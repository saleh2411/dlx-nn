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663B-01EE-4D27-B6B8-967932AFFB1A}" type="datetimeFigureOut">
              <a:rPr lang="en-US" smtClean="0"/>
              <a:t>12/15/2021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04E83-3A76-47C2-B23E-88D5C2E17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4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morning. We are Saed Abu Fool and Saleh Khalil, and this is our final</a:t>
            </a:r>
          </a:p>
          <a:p>
            <a:r>
              <a:t>project, supervised by Oren Ganon.</a:t>
            </a:r>
          </a:p>
          <a:p/>
          <a:p>
            <a:r>
              <a:t>In one sentence: we took a classic teaching processor, the DLX, and we taught</a:t>
            </a:r>
          </a:p>
          <a:p>
            <a:r>
              <a:t>it to compute neural-network activation functions directly in hardware —</a:t>
            </a:r>
          </a:p>
          <a:p>
            <a:r>
              <a:t>sigmoid, tanh, GELU, ReLU and softmax — instead of running them as software</a:t>
            </a:r>
          </a:p>
          <a:p>
            <a:r>
              <a:t>subroutines.</a:t>
            </a:r>
          </a:p>
          <a:p/>
          <a:p>
            <a:r>
              <a:t>In the next 25 minutes: what the baseline processor could do, what we added, how</a:t>
            </a:r>
          </a:p>
          <a:p>
            <a:r>
              <a:t>accurate it is, how much faster, and what it cost in area. At the end we run a</a:t>
            </a:r>
          </a:p>
          <a:p>
            <a:r>
              <a:t>real handwritten-digit classifier on it.</a:t>
            </a:r>
          </a:p>
          <a:p/>
          <a:p>
            <a:r>
              <a:t>SOURCE: project_book/sections/titlepage.tex (supervisor); LaTeX/project_book.tex (student names)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why anyone would want this at all.</a:t>
            </a:r>
          </a:p>
          <a:p/>
          <a:p>
            <a:r>
              <a:t>Neural networks are not only a data-centre thing any more. They run on the small</a:t>
            </a:r>
          </a:p>
          <a:p>
            <a:r>
              <a:t>devices around you — a sensor that recognises a sound, a camera that spots a</a:t>
            </a:r>
          </a:p>
          <a:p>
            <a:r>
              <a:t>face, a controller that reads a gauge. Those devices do not have a graphics card</a:t>
            </a:r>
          </a:p>
          <a:p>
            <a:r>
              <a:t>and most of them do not even have a floating-point unit. They have a small</a:t>
            </a:r>
          </a:p>
          <a:p>
            <a:r>
              <a:t>integer processor, exactly like the one this project is built on.</a:t>
            </a:r>
          </a:p>
          <a:p/>
          <a:p>
            <a:r>
              <a:t>Now, what does a neural network actually ask that processor to do? Look at the</a:t>
            </a:r>
          </a:p>
          <a:p>
            <a:r>
              <a:t>left. This is a tiny network — four inputs, three neurons, two outputs. The</a:t>
            </a:r>
          </a:p>
          <a:p>
            <a:r>
              <a:t>lines are multiply-and-add: every connection multiplies an input by a weight,</a:t>
            </a:r>
          </a:p>
          <a:p>
            <a:r>
              <a:t>and the neuron sums them. That part is easy. Any processor with an adder can do</a:t>
            </a:r>
          </a:p>
          <a:p>
            <a:r>
              <a:t>it.</a:t>
            </a:r>
          </a:p>
          <a:p/>
          <a:p>
            <a:r>
              <a:t>The expensive part is the circles. Every neuron, after it has done its sum,</a:t>
            </a:r>
          </a:p>
          <a:p>
            <a:r>
              <a:t>applies an activation function — the orange box on the right. And this is not an</a:t>
            </a:r>
          </a:p>
          <a:p>
            <a:r>
              <a:t>optional flourish. Without it, a stack of layers collapses into a single linear</a:t>
            </a:r>
          </a:p>
          <a:p>
            <a:r>
              <a:t>function, and the whole network becomes useless. Whatever you have heard about</a:t>
            </a:r>
          </a:p>
          <a:p>
            <a:r>
              <a:t>deep learning, this non-linear step is what makes depth mean anything.</a:t>
            </a:r>
          </a:p>
          <a:p/>
          <a:p>
            <a:r>
              <a:t>So how hard can one function be? Look at the two formulas. Sigmoid is one over</a:t>
            </a:r>
          </a:p>
          <a:p>
            <a:r>
              <a:t>one plus e to the minus x. Softmax is e to the x over the sum of e to the x.</a:t>
            </a:r>
          </a:p>
          <a:p>
            <a:r>
              <a:t>Between them they need an exponential and a division.</a:t>
            </a:r>
          </a:p>
          <a:p/>
          <a:p>
            <a:r>
              <a:t>Our processor has neither. No exponential instruction, no divider. So on this</a:t>
            </a:r>
          </a:p>
          <a:p>
            <a:r>
              <a:t>machine every activation has to be faked in software, out of adds, shifts and</a:t>
            </a:r>
          </a:p>
          <a:p>
            <a:r>
              <a:t>branches — and it has to be faked once per neuron, per layer, per input, which</a:t>
            </a:r>
          </a:p>
          <a:p>
            <a:r>
              <a:t>is where the time goes.</a:t>
            </a:r>
          </a:p>
          <a:p/>
          <a:p>
            <a:r>
              <a:t>That is the opening the project attacks: take the one expensive step, and make</a:t>
            </a:r>
          </a:p>
          <a:p>
            <a:r>
              <a:t>it a single instruction the hardware executes directly.</a:t>
            </a:r>
          </a:p>
          <a:p/>
          <a:p>
            <a:r>
              <a:t>SOURCE: README.md 'Motivation'; the activation formulas are the standard definitions, evaluated in Q16.16 throughout this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processor we were given. The DLX is a textbook 32-bit RISC machine.</a:t>
            </a:r>
          </a:p>
          <a:p>
            <a:r>
              <a:t>It is multi-cycle and not pipelined: one instruction is finished before the next</a:t>
            </a:r>
          </a:p>
          <a:p>
            <a:r>
              <a:t>one starts, and each instruction takes several clock cycles.</a:t>
            </a:r>
          </a:p>
          <a:p/>
          <a:p>
            <a:r>
              <a:t>On the left, control — two state machines: one walks every instruction through</a:t>
            </a:r>
          </a:p>
          <a:p>
            <a:r>
              <a:t>fetch, decode, execute, write-back; the other runs the handshake with memory,</a:t>
            </a:r>
          </a:p>
          <a:p>
            <a:r>
              <a:t>because the SRAM is asynchronous.</a:t>
            </a:r>
          </a:p>
          <a:p/>
          <a:p>
            <a:r>
              <a:t>In the middle, the data path. Thirty-two registers of 32 bits, an ALU that adds,</a:t>
            </a:r>
          </a:p>
          <a:p>
            <a:r>
              <a:t>subtracts and compares, working registers, and a shifter that moves exactly one</a:t>
            </a:r>
          </a:p>
          <a:p>
            <a:r>
              <a:t>bit per instruction — there is no barrel shifter.</a:t>
            </a:r>
          </a:p>
          <a:p/>
          <a:p>
            <a:r>
              <a:t>Now the important line at the bottom. This machine has no multiplier, no</a:t>
            </a:r>
          </a:p>
          <a:p>
            <a:r>
              <a:t>divider, and certainly no exponential. So every neural-network activation</a:t>
            </a:r>
          </a:p>
          <a:p>
            <a:r>
              <a:t>function has to be built out of adds, shifts and branches, in software. That is</a:t>
            </a:r>
          </a:p>
          <a:p>
            <a:r>
              <a:t>slow, and that is the problem this project attacks.</a:t>
            </a:r>
          </a:p>
          <a:p/>
          <a:p>
            <a:r>
              <a:t>SOURCE: README.md 'Architecture Overview'; docs/architecture_block_diagrams.md (BEFORE)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neural network is mostly multiply-and-add, which any processor can do. The</a:t>
            </a:r>
          </a:p>
          <a:p>
            <a:r>
              <a:t>hard part is the activation function — the non-linear step after each layer.</a:t>
            </a:r>
          </a:p>
          <a:p>
            <a:r>
              <a:t>Without it the whole network collapses into one linear function.</a:t>
            </a:r>
          </a:p>
          <a:p/>
          <a:p>
            <a:r>
              <a:t>Five of them, left to right. Sigmoid squashes any number into zero-to-one, tanh</a:t>
            </a:r>
          </a:p>
          <a:p>
            <a:r>
              <a:t>into minus-one-to-one. GELU is the smooth gate used in modern transformer</a:t>
            </a:r>
          </a:p>
          <a:p>
            <a:r>
              <a:t>models. ReLU keeps positives and zeroes negatives.</a:t>
            </a:r>
          </a:p>
          <a:p/>
          <a:p>
            <a:r>
              <a:t>The fifth one is different in kind. Softmax is not a curve — it takes a whole</a:t>
            </a:r>
          </a:p>
          <a:p>
            <a:r>
              <a:t>vector of scores and turns it into a probability distribution that sums to one.</a:t>
            </a:r>
          </a:p>
          <a:p>
            <a:r>
              <a:t>Every output depends on every input. Remember that difference; it drives the</a:t>
            </a:r>
          </a:p>
          <a:p>
            <a:r>
              <a:t>entire hardware design later.</a:t>
            </a:r>
          </a:p>
          <a:p/>
          <a:p>
            <a:r>
              <a:t>Three requirements defined the project. Accuracy: mean squared error no worse</a:t>
            </a:r>
          </a:p>
          <a:p>
            <a:r>
              <a:t>than 0.025 versus exact mathematics. Speed: at least a thirty percent cut in</a:t>
            </a:r>
          </a:p>
          <a:p>
            <a:r>
              <a:t>clock cycles against the software implementation — that is requirement R1, the</a:t>
            </a:r>
          </a:p>
          <a:p>
            <a:r>
              <a:t>headline one. Area: no more than twenty percent extra chip area.</a:t>
            </a:r>
          </a:p>
          <a:p/>
          <a:p>
            <a:r>
              <a:t>Everything from here answers those three numbers.</a:t>
            </a:r>
          </a:p>
          <a:p/>
          <a:p>
            <a:r>
              <a:t>SOURCE: results/DLX-NN_Project_Targets.xlsx, sheet '1. Accuracy'; results/DLX-NN_Project_Targets.xlsx, sheet '2. Cycle Count'  (raw simulator logs: results/timing results/*.txt); results/DLX-NN_Project_Targets.xlsx, sheet '3. Area'  (raw: results/Utilization_Summary/*.pdf)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five functions, one slide on how this machine holds a number, because</a:t>
            </a:r>
          </a:p>
          <a:p>
            <a:r>
              <a:t>every value you see for the rest of the talk is in this format.</a:t>
            </a:r>
          </a:p>
          <a:p/>
          <a:p>
            <a:r>
              <a:t>The DLX has no floating-point unit. It has no floating-point anything. So we use</a:t>
            </a:r>
          </a:p>
          <a:p>
            <a:r>
              <a:t>fixed point, which is the old trick of storing a fraction as an ordinary</a:t>
            </a:r>
          </a:p>
          <a:p>
            <a:r>
              <a:t>integer and simply agreeing where the decimal point sits.</a:t>
            </a:r>
          </a:p>
          <a:p/>
          <a:p>
            <a:r>
              <a:t>Q16.16 means: thirty-two bits, split down the middle. Bit thirty-one is the</a:t>
            </a:r>
          </a:p>
          <a:p>
            <a:r>
              <a:t>sign, two's complement like any integer. The next fifteen bits are the whole</a:t>
            </a:r>
          </a:p>
          <a:p>
            <a:r>
              <a:t>part. The bottom sixteen bits are the fraction. The point sits between bit</a:t>
            </a:r>
          </a:p>
          <a:p>
            <a:r>
              <a:t>sixteen and bit fifteen and it never moves — that is the whole idea, and it is</a:t>
            </a:r>
          </a:p>
          <a:p>
            <a:r>
              <a:t>why this is called fixed point.</a:t>
            </a:r>
          </a:p>
          <a:p/>
          <a:p>
            <a:r>
              <a:t>Concretely: the hex word 0x0002_8000 is the integer 163,840. Divide by 65,536 —</a:t>
            </a:r>
          </a:p>
          <a:p>
            <a:r>
              <a:t>that is two to the sixteen — and you get 2.5. That is not a made-up example; it</a:t>
            </a:r>
          </a:p>
          <a:p>
            <a:r>
              <a:t>is the actual word we loaded into the processor for the sigmoid test, and</a:t>
            </a:r>
          </a:p>
          <a:p>
            <a:r>
              <a:t>0x0000_EC00 underneath it is the actual word it gave back, which is 0.921875.</a:t>
            </a:r>
          </a:p>
          <a:p>
            <a:r>
              <a:t>The third row is minus one and a half, stored as plain two's complement.</a:t>
            </a:r>
          </a:p>
          <a:p/>
          <a:p>
            <a:r>
              <a:t>Why this matters for the hardware. Adding two Q16.16 numbers is just adding two</a:t>
            </a:r>
          </a:p>
          <a:p>
            <a:r>
              <a:t>integers — the existing ALU already does it, no new hardware at all. Multiplying</a:t>
            </a:r>
          </a:p>
          <a:p>
            <a:r>
              <a:t>needs one extra step, a shift right by sixteen. And dividing by a power of two,</a:t>
            </a:r>
          </a:p>
          <a:p>
            <a:r>
              <a:t>which is what our whole approximation strategy relies on, is a single shift.</a:t>
            </a:r>
          </a:p>
          <a:p/>
          <a:p>
            <a:r>
              <a:t>The cost is resolution: the smallest step is two to the minus sixteen, about</a:t>
            </a:r>
          </a:p>
          <a:p>
            <a:r>
              <a:t>fifteen millionths. The range is not symmetric: it runs from minus 32,768 up to</a:t>
            </a:r>
          </a:p>
          <a:p>
            <a:r>
              <a:t>plus 32,767.99998, because two's complement gives one extra step on the</a:t>
            </a:r>
          </a:p>
          <a:p>
            <a:r>
              <a:t>negative side and the largest positive value is one resolution step short of</a:t>
            </a:r>
          </a:p>
          <a:p>
            <a:r>
              <a:t>32,768. For neural</a:t>
            </a:r>
          </a:p>
          <a:p>
            <a:r>
              <a:t>network activations, where the interesting values live between about minus five</a:t>
            </a:r>
          </a:p>
          <a:p>
            <a:r>
              <a:t>and plus five, both are far more than enough — and the accuracy results in a few</a:t>
            </a:r>
          </a:p>
          <a:p>
            <a:r>
              <a:t>minutes confirm it.</a:t>
            </a:r>
          </a:p>
          <a:p/>
          <a:p>
            <a:r>
              <a:t>SOURCE: README.md 'Fixed-Point Representation (Q16.16)'; worked values from results/timing results/sigmoid_accel.txt and relu_accel.txt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and most important one, because three of our five functions are built</a:t>
            </a:r>
          </a:p>
          <a:p>
            <a:r>
              <a:t>on top of it. The grey line is the exact sigmoid, the orange line is what our</a:t>
            </a:r>
          </a:p>
          <a:p>
            <a:r>
              <a:t>silicon produces, and at this scale you cannot separate them.</a:t>
            </a:r>
          </a:p>
          <a:p/>
          <a:p>
            <a:r>
              <a:t>The trick is on the right. Instead of an exponential, we replace the curve with</a:t>
            </a:r>
          </a:p>
          <a:p>
            <a:r>
              <a:t>five straight segments — the joins are the faint vertical lines. A segment is</a:t>
            </a:r>
          </a:p>
          <a:p>
            <a:r>
              <a:t>slope times x plus an offset, and every slope is a power of two: a quarter, an</a:t>
            </a:r>
          </a:p>
          <a:p>
            <a:r>
              <a:t>eighth, a thirty-second. Multiplying by an eighth is shifting three places</a:t>
            </a:r>
          </a:p>
          <a:p>
            <a:r>
              <a:t>right, which is free. So sigmoid costs a comparison, a shift and an add.</a:t>
            </a:r>
          </a:p>
          <a:p/>
          <a:p>
            <a:r>
              <a:t>Negative inputs need no segments at all: sigmoid of minus x is one minus sigmoid</a:t>
            </a:r>
          </a:p>
          <a:p>
            <a:r>
              <a:t>of x, so we mirror.</a:t>
            </a:r>
          </a:p>
          <a:p/>
          <a:p>
            <a:r>
              <a:t>The bottom strip is the error. The needles near plus and minus one are the joins</a:t>
            </a:r>
          </a:p>
          <a:p>
            <a:r>
              <a:t>between segments. The worst absolute error is 1.8 hundredths, out at x around</a:t>
            </a:r>
          </a:p>
          <a:p>
            <a:r>
              <a:t>three and a half, and the mean squared error over the whole sweep is 4.7 times</a:t>
            </a:r>
          </a:p>
          <a:p>
            <a:r>
              <a:t>ten to the minus five — five hundred times better than the requirement.</a:t>
            </a:r>
          </a:p>
          <a:p/>
          <a:p>
            <a:r>
              <a:t>SOURCE: results/DLX-NN_Project_Targets.xlsx, sheet '1. Accuracy'; curve plotted from the RTL in 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Tanh is mathematically the sigmoid stretched and shifted: tanh of x equals two</a:t>
            </a:r>
          </a:p>
          <a:p>
            <a:r>
              <a:t>sigmoid of two x, minus one.</a:t>
            </a:r>
          </a:p>
          <a:p/>
          <a:p>
            <a:r>
              <a:t>That identity is worth real money in hardware. It means we do not build a tanh</a:t>
            </a:r>
          </a:p>
          <a:p>
            <a:r>
              <a:t>unit. We take the input, shift it left by one — that is times two — push it</a:t>
            </a:r>
          </a:p>
          <a:p>
            <a:r>
              <a:t>through the same sigmoid block, shift the result left by one, and subtract one.</a:t>
            </a:r>
          </a:p>
          <a:p>
            <a:r>
              <a:t>Two shifts and an add.</a:t>
            </a:r>
          </a:p>
          <a:p/>
          <a:p>
            <a:r>
              <a:t>Because the input is doubled, the curve saturates twice as early: by the time x</a:t>
            </a:r>
          </a:p>
          <a:p>
            <a:r>
              <a:t>reaches about two and a half, the output is pinned at plus or minus one, exactly</a:t>
            </a:r>
          </a:p>
          <a:p>
            <a:r>
              <a:t>like the real tanh.</a:t>
            </a:r>
          </a:p>
          <a:p/>
          <a:p>
            <a:r>
              <a:t>The error also doubles, since we doubled the sigmoid output. It is still</a:t>
            </a:r>
          </a:p>
          <a:p>
            <a:r>
              <a:t>2.3 times ten to the minus four — a hundred times inside the requirement.</a:t>
            </a:r>
          </a:p>
          <a:p/>
          <a:p>
            <a:r>
              <a:t>SOURCE: results/DLX-NN_Project_Targets.xlsx, sheet '1. Accuracy'; curve plotted from the RTL in 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GELU is the activation used inside modern transformer models. It behaves like a</a:t>
            </a:r>
          </a:p>
          <a:p>
            <a:r>
              <a:t>soft version of ReLU — notice the small dip below zero just left of the origin,</a:t>
            </a:r>
          </a:p>
          <a:p>
            <a:r>
              <a:t>where GELU actually returns a slightly negative value.</a:t>
            </a:r>
          </a:p>
          <a:p/>
          <a:p>
            <a:r>
              <a:t>The standard cheap approximation is x times sigmoid of 1.702 x. So for the third</a:t>
            </a:r>
          </a:p>
          <a:p>
            <a:r>
              <a:t>time we reuse the same sigmoid block. Scale the input by the constant 1.702,</a:t>
            </a:r>
          </a:p>
          <a:p>
            <a:r>
              <a:t>run it through sigmoid, then multiply by the original x.</a:t>
            </a:r>
          </a:p>
          <a:p/>
          <a:p>
            <a:r>
              <a:t>This is the one activation that genuinely needs a multiplier, for the input</a:t>
            </a:r>
          </a:p>
          <a:p>
            <a:r>
              <a:t>scaling and the final product. Everything else in the engine is shift-only.</a:t>
            </a:r>
          </a:p>
          <a:p/>
          <a:p>
            <a:r>
              <a:t>That is the resource-sharing story of this project in one sentence: sigmoid,</a:t>
            </a:r>
          </a:p>
          <a:p>
            <a:r>
              <a:t>tanh and GELU are three instructions, but only one sigmoid core exists on the</a:t>
            </a:r>
          </a:p>
          <a:p>
            <a:r>
              <a:t>chip. Three separate units would have cost roughly three times the area.</a:t>
            </a:r>
          </a:p>
          <a:p/>
          <a:p>
            <a:r>
              <a:t>Mean squared error, 4.9 times ten to the minus four. Fifty times inside the</a:t>
            </a:r>
          </a:p>
          <a:p>
            <a:r>
              <a:t>requirement.</a:t>
            </a:r>
          </a:p>
          <a:p/>
          <a:p>
            <a:r>
              <a:t>SOURCE: results/DLX-NN_Project_Targets.xlsx, sheet '1. Accuracy'; curve plotted from the RTL in 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ReLU is the easy one, and I want to be honest about that.</a:t>
            </a:r>
          </a:p>
          <a:p/>
          <a:p>
            <a:r>
              <a:t>ReLU keeps positive numbers and replaces negatives with zero. In two's complement</a:t>
            </a:r>
          </a:p>
          <a:p>
            <a:r>
              <a:t>the sign is a single bit — bit thirty-one. So the entire unit is: look at bit</a:t>
            </a:r>
          </a:p>
          <a:p>
            <a:r>
              <a:t>thirty-one; if it is one, output zero; otherwise output the input unchanged.</a:t>
            </a:r>
          </a:p>
          <a:p>
            <a:r>
              <a:t>That is one multiplexer. No arithmetic at all.</a:t>
            </a:r>
          </a:p>
          <a:p/>
          <a:p>
            <a:r>
              <a:t>Because there is no approximation, the error is not small — it is exactly zero</a:t>
            </a:r>
          </a:p>
          <a:p>
            <a:r>
              <a:t>for every input. That is the flat line at the bottom, and the zero in the</a:t>
            </a:r>
          </a:p>
          <a:p>
            <a:r>
              <a:t>results sheet.</a:t>
            </a:r>
          </a:p>
          <a:p/>
          <a:p>
            <a:r>
              <a:t>Remember this slide when we get to the speed results, because ReLU is also the</a:t>
            </a:r>
          </a:p>
          <a:p>
            <a:r>
              <a:t>one function where the hardware wins least. When the software version is already</a:t>
            </a:r>
          </a:p>
          <a:p>
            <a:r>
              <a:t>only three instructions, there is not much left to remove.</a:t>
            </a:r>
          </a:p>
          <a:p/>
          <a:p>
            <a:r>
              <a:t>SOURCE: results/DLX-NN_Project_Targets.xlsx, sheet '1. Accuracy'; curve plotted from the RTL in design/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Softmax is the odd one out, because it is not a curve — it turns a whole vector</a:t>
            </a:r>
          </a:p>
          <a:p>
            <a:r>
              <a:t>of scores into probabilities that add up to one. Every output depends on every</a:t>
            </a:r>
          </a:p>
          <a:p>
            <a:r>
              <a:t>input, so the hardware has to see the entire vector.</a:t>
            </a:r>
          </a:p>
          <a:p/>
          <a:p>
            <a:r>
              <a:t>Textbook softmax is the exponential of each score divided by the sum of the</a:t>
            </a:r>
          </a:p>
          <a:p>
            <a:r>
              <a:t>exponentials. We have neither an exponential nor a divider, so we follow the</a:t>
            </a:r>
          </a:p>
          <a:p>
            <a:r>
              <a:t>online-softmax algorithm from the ICECS 2025 paper by Hirayae and colleagues and</a:t>
            </a:r>
          </a:p>
          <a:p>
            <a:r>
              <a:t>replace both.</a:t>
            </a:r>
          </a:p>
          <a:p/>
          <a:p>
            <a:r>
              <a:t>Pass one walks the vector once, keeping the largest score so far and a running</a:t>
            </a:r>
          </a:p>
          <a:p>
            <a:r>
              <a:t>denominator, rescaling that denominator whenever a new maximum appears —</a:t>
            </a:r>
          </a:p>
          <a:p>
            <a:r>
              <a:t>subtracting the maximum is what stops the numbers overflowing. Pass two walks</a:t>
            </a:r>
          </a:p>
          <a:p>
            <a:r>
              <a:t>the vector again and writes each output.</a:t>
            </a:r>
          </a:p>
          <a:p/>
          <a:p>
            <a:r>
              <a:t>The exponential becomes shift-exp: multiply by one and a half, split into whole</a:t>
            </a:r>
          </a:p>
          <a:p>
            <a:r>
              <a:t>and fractional parts, and shift. Right shifts only, because after subtracting</a:t>
            </a:r>
          </a:p>
          <a:p>
            <a:r>
              <a:t>the maximum every argument is negative. The division becomes a piecewise-linear</a:t>
            </a:r>
          </a:p>
          <a:p>
            <a:r>
              <a:t>reciprocal: eight straight segments over powers of two.</a:t>
            </a:r>
          </a:p>
          <a:p/>
          <a:p>
            <a:r>
              <a:t>Over 1,050 test vectors, up to five hundred elements long, mean squared error is</a:t>
            </a:r>
          </a:p>
          <a:p>
            <a:r>
              <a:t>one times ten to the minus four.</a:t>
            </a:r>
          </a:p>
          <a:p/>
          <a:p>
            <a:r>
              <a:t>SOURCE: results/DLX-NN_Project_Targets.xlsx, sheet '1. Accuracy'; README.md 'Softmax Instruction'; papers/ (ICECS 2025, Hirayae et al.)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of the three requirements, closed out.</a:t>
            </a:r>
          </a:p>
          <a:p/>
          <a:p>
            <a:r>
              <a:t>The scale is logarithmic, so each gridline is a factor of ten. The black line on</a:t>
            </a:r>
          </a:p>
          <a:p>
            <a:r>
              <a:t>the right is the requirement: mean squared error no worse than 0.025.</a:t>
            </a:r>
          </a:p>
          <a:p/>
          <a:p>
            <a:r>
              <a:t>Every bar is far to the left of it. GELU is our worst function at five ten-thousandths,</a:t>
            </a:r>
          </a:p>
          <a:p>
            <a:r>
              <a:t>and that is still fifty times better than required. Sigmoid is five hundred times</a:t>
            </a:r>
          </a:p>
          <a:p>
            <a:r>
              <a:t>better. ReLU is exact, so it has no bar at all — I have drawn it at the floor of</a:t>
            </a:r>
          </a:p>
          <a:p>
            <a:r>
              <a:t>the scale so you can see the label.</a:t>
            </a:r>
          </a:p>
          <a:p/>
          <a:p>
            <a:r>
              <a:t>Softmax was measured differently from the others: not by sweeping one input, but</a:t>
            </a:r>
          </a:p>
          <a:p>
            <a:r>
              <a:t>by running 1,050 complete vectors of up to five hundred elements each.</a:t>
            </a:r>
          </a:p>
          <a:p/>
          <a:p>
            <a:r>
              <a:t>Requirement one: met, with a very large margin. Now the harder question — how</a:t>
            </a:r>
          </a:p>
          <a:p>
            <a:r>
              <a:t>much faster is it, and what did it cost.</a:t>
            </a:r>
          </a:p>
          <a:p/>
          <a:p>
            <a:r>
              <a:t>SOURCE: results/DLX-NN_Project_Targets.xlsx, sheet '1. Accuracy'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same picture as the baseline slide, with everything we added shown</a:t>
            </a:r>
          </a:p>
          <a:p>
            <a:r>
              <a:t>in orange. There are only three additions, and I want to stress how small that</a:t>
            </a:r>
          </a:p>
          <a:p>
            <a:r>
              <a:t>list is.</a:t>
            </a:r>
          </a:p>
          <a:p/>
          <a:p>
            <a:r>
              <a:t>One: the Activation Engine, inside the data path. That is the block that</a:t>
            </a:r>
          </a:p>
          <a:p>
            <a:r>
              <a:t>computes all five functions.</a:t>
            </a:r>
          </a:p>
          <a:p/>
          <a:p>
            <a:r>
              <a:t>Two: a new multiplexer that lets an instruction's result come from the</a:t>
            </a:r>
          </a:p>
          <a:p>
            <a:r>
              <a:t>activation engine instead of the ALU.</a:t>
            </a:r>
          </a:p>
          <a:p/>
          <a:p>
            <a:r>
              <a:t>Three: a memory arbiter between the processor and the SRAM, because the softmax</a:t>
            </a:r>
          </a:p>
          <a:p>
            <a:r>
              <a:t>engine needs the memory bus for itself.</a:t>
            </a:r>
          </a:p>
          <a:p/>
          <a:p>
            <a:r>
              <a:t>Plus four new states in the instruction FSM.</a:t>
            </a:r>
          </a:p>
          <a:p/>
          <a:p>
            <a:r>
              <a:t>Everything else — the register file, the ALU, the shifter, the memory FSM, the</a:t>
            </a:r>
          </a:p>
          <a:p>
            <a:r>
              <a:t>SRAM — is untouched. We did not redesign the processor. We attached to it.</a:t>
            </a:r>
          </a:p>
          <a:p/>
          <a:p>
            <a:r>
              <a:t>The next six slides walk through each of those pieces.</a:t>
            </a:r>
          </a:p>
          <a:p/>
          <a:p>
            <a:r>
              <a:t>SOURCE: docs/architecture_block_diagrams.md (BEFORE / AFTER); README.md 'Architecture Overview'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Inside the engine — this is where the area saving lives.</a:t>
            </a:r>
          </a:p>
          <a:p/>
          <a:p>
            <a:r>
              <a:t>Look at the top row. Sigmoid, tanh and GELU are three instructions taking one</a:t>
            </a:r>
          </a:p>
          <a:p>
            <a:r>
              <a:t>route: scale the input, run it through one sigmoid core, shape the output. The</a:t>
            </a:r>
          </a:p>
          <a:p>
            <a:r>
              <a:t>scaling and shaping are just multiplexers — x, 2x or 1.702x going in; y, 2y</a:t>
            </a:r>
          </a:p>
          <a:p>
            <a:r>
              <a:t>minus one, or x times y coming out.</a:t>
            </a:r>
          </a:p>
          <a:p/>
          <a:p>
            <a:r>
              <a:t>So the expensive part — the sigmoid core with its comparators, adders and</a:t>
            </a:r>
          </a:p>
          <a:p>
            <a:r>
              <a:t>shifters — exists exactly once on the chip. Building three separate units would</a:t>
            </a:r>
          </a:p>
          <a:p>
            <a:r>
              <a:t>have cost roughly three times the area for no extra capability.</a:t>
            </a:r>
          </a:p>
          <a:p/>
          <a:p>
            <a:r>
              <a:t>ReLU sits outside that path — it shares nothing with sigmoid, it is one sign-bit</a:t>
            </a:r>
          </a:p>
          <a:p>
            <a:r>
              <a:t>test. And the softmax engine sits apart from everything, because it does not</a:t>
            </a:r>
          </a:p>
          <a:p>
            <a:r>
              <a:t>take a value from a register and give one back; it reads and writes memory</a:t>
            </a:r>
          </a:p>
          <a:p>
            <a:r>
              <a:t>itself. More on that shortly.</a:t>
            </a:r>
          </a:p>
          <a:p/>
          <a:p>
            <a:r>
              <a:t>At the right, a multiplexer picks whichever result was asked for.</a:t>
            </a:r>
          </a:p>
          <a:p/>
          <a:p>
            <a:r>
              <a:t>SOURCE: README.md 'sigmoid_subenv - Shared Sigmoid Core'; design/sigmoid_subenv/sigmoid_subenv.v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People often expect that adding a hardware unit to a processor means rewiring</a:t>
            </a:r>
          </a:p>
          <a:p>
            <a:r>
              <a:t>the data path. It did not.</a:t>
            </a:r>
          </a:p>
          <a:p/>
          <a:p>
            <a:r>
              <a:t>Before, the result that gets written into a destination register always came</a:t>
            </a:r>
          </a:p>
          <a:p>
            <a:r>
              <a:t>from the ALU. One wire.</a:t>
            </a:r>
          </a:p>
          <a:p/>
          <a:p>
            <a:r>
              <a:t>After, there is a two-to-one multiplexer in front of that same wire. If the</a:t>
            </a:r>
          </a:p>
          <a:p>
            <a:r>
              <a:t>instruction's opcode starts with the three bits one-one-one, the result comes</a:t>
            </a:r>
          </a:p>
          <a:p>
            <a:r>
              <a:t>from the activation engine. Otherwise it comes from the ALU, exactly as before.</a:t>
            </a:r>
          </a:p>
          <a:p/>
          <a:p>
            <a:r>
              <a:t>We chose the opcodes deliberately so that this test is three bits, not a full</a:t>
            </a:r>
          </a:p>
          <a:p>
            <a:r>
              <a:t>comparison against five separate opcodes. All five activation instructions live</a:t>
            </a:r>
          </a:p>
          <a:p>
            <a:r>
              <a:t>in the one-one-one block: sigmoid, tanh, GELU, ReLU, softmax.</a:t>
            </a:r>
          </a:p>
          <a:p/>
          <a:p>
            <a:r>
              <a:t>No new register-file port. No second write-back path. No change to the timing of</a:t>
            </a:r>
          </a:p>
          <a:p>
            <a:r>
              <a:t>any existing instruction. That is the whole modification.</a:t>
            </a:r>
          </a:p>
          <a:p/>
          <a:p>
            <a:r>
              <a:t>SOURCE: docs/architecture_block_diagrams.md, 'Changed: DINT_0_IN mux'; opcode map from RESA_ENV/OPCODES.md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 unit talks to the data path over a bundle of wires. Before this</a:t>
            </a:r>
          </a:p>
          <a:p>
            <a:r>
              <a:t>project there were twenty of them — enable this register, select that</a:t>
            </a:r>
          </a:p>
          <a:p>
            <a:r>
              <a:t>multiplexer, and so on.</a:t>
            </a:r>
          </a:p>
          <a:p/>
          <a:p>
            <a:r>
              <a:t>We added three going out.</a:t>
            </a:r>
          </a:p>
          <a:p/>
          <a:p>
            <a:r>
              <a:t>sigmoid, two bits, says which of the three sigmoid-family functions is wanted:</a:t>
            </a:r>
          </a:p>
          <a:p>
            <a:r>
              <a:t>sigmoid, tanh or GELU. That is what drives the input and output multiplexers you</a:t>
            </a:r>
          </a:p>
          <a:p>
            <a:r>
              <a:t>saw two slides ago.</a:t>
            </a:r>
          </a:p>
          <a:p/>
          <a:p>
            <a:r>
              <a:t>ACTIVATION_sel picks between the sigmoid path and the ReLU path.</a:t>
            </a:r>
          </a:p>
          <a:p/>
          <a:p>
            <a:r>
              <a:t>softmax_start is a single-cycle pulse. It tells the softmax engine to begin, and</a:t>
            </a:r>
          </a:p>
          <a:p>
            <a:r>
              <a:t>then the control unit lets go.</a:t>
            </a:r>
          </a:p>
          <a:p/>
          <a:p>
            <a:r>
              <a:t>And one signal comes back: softmax_done. Because softmax takes many cycles and</a:t>
            </a:r>
          </a:p>
          <a:p>
            <a:r>
              <a:t>the number depends on the length of the vector, the control unit cannot simply</a:t>
            </a:r>
          </a:p>
          <a:p>
            <a:r>
              <a:t>count. It waits for the engine to say it has finished.</a:t>
            </a:r>
          </a:p>
          <a:p/>
          <a:p>
            <a:r>
              <a:t>None of the twenty original signals changed meaning. That matters — it means</a:t>
            </a:r>
          </a:p>
          <a:p>
            <a:r>
              <a:t>every existing instruction still executes exactly as it did before.</a:t>
            </a:r>
          </a:p>
          <a:p/>
          <a:p>
            <a:r>
              <a:t>SOURCE: docs/architecture_block_diagrams.md, 'NEW outputs' / 'NEW input'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control unit is a state machine. Every instruction walks a path through it:</a:t>
            </a:r>
          </a:p>
          <a:p>
            <a:r>
              <a:t>fetch, decode, then whichever states that instruction needs, then write back.</a:t>
            </a:r>
          </a:p>
          <a:p/>
          <a:p>
            <a:r>
              <a:t>Decode now has four more destinations.</a:t>
            </a:r>
          </a:p>
          <a:p/>
          <a:p>
            <a:r>
              <a:t>S_SIGMOID, state twenty-one, handles sigmoid, tanh and GELU. Sigmoid and tanh</a:t>
            </a:r>
          </a:p>
          <a:p>
            <a:r>
              <a:t>finish in a single clock. GELU takes two, because its path is pipelined — the</a:t>
            </a:r>
          </a:p>
          <a:p>
            <a:r>
              <a:t>state waits on a ready signal from the engine rather than assuming a fixed</a:t>
            </a:r>
          </a:p>
          <a:p>
            <a:r>
              <a:t>length.</a:t>
            </a:r>
          </a:p>
          <a:p/>
          <a:p>
            <a:r>
              <a:t>S_RELU, state twenty-three, does the same for ReLU, in one cycle.</a:t>
            </a:r>
          </a:p>
          <a:p/>
          <a:p>
            <a:r>
              <a:t>The two softmax states are different. S_SOFTMAX_START, state twenty-two, pulses</a:t>
            </a:r>
          </a:p>
          <a:p>
            <a:r>
              <a:t>the start signal and moves on. S_SOFTMAX_RUN, state twenty-four, is a waiting</a:t>
            </a:r>
          </a:p>
          <a:p>
            <a:r>
              <a:t>state: it sits there until softmax_done comes back. That is how a multi-cycle,</a:t>
            </a:r>
          </a:p>
          <a:p>
            <a:r>
              <a:t>data-dependent operation is handled in a machine that otherwise knows exactly</a:t>
            </a:r>
          </a:p>
          <a:p>
            <a:r>
              <a:t>how long everything takes.</a:t>
            </a:r>
          </a:p>
          <a:p/>
          <a:p>
            <a:r>
              <a:t>Notice that softmax does not go to write back. Its results are already in</a:t>
            </a:r>
          </a:p>
          <a:p>
            <a:r>
              <a:t>memory, so it returns straight to fetch.</a:t>
            </a:r>
          </a:p>
          <a:p/>
          <a:p>
            <a:r>
              <a:t>SOURCE: docs/architecture_block_diagrams.md; state numbers from CLAUDE.md (S_SIGMOID 21, S_SOFTMAX_START 22, S_RELU 23, S_SOFTMAX_RUN 24)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problem the arbiter solves.</a:t>
            </a:r>
          </a:p>
          <a:p/>
          <a:p>
            <a:r>
              <a:t>The DLX was built on the assumption that it is the only thing touching memory.</a:t>
            </a:r>
          </a:p>
          <a:p>
            <a:r>
              <a:t>Its loads and stores drive the address lines, the data lines and the handshake</a:t>
            </a:r>
          </a:p>
          <a:p>
            <a:r>
              <a:t>signals directly.</a:t>
            </a:r>
          </a:p>
          <a:p/>
          <a:p>
            <a:r>
              <a:t>The softmax engine also needs memory — it streams a whole vector in and a whole</a:t>
            </a:r>
          </a:p>
          <a:p>
            <a:r>
              <a:t>vector out. If both drove the bus at once you would get corrupted data, or two</a:t>
            </a:r>
          </a:p>
          <a:p>
            <a:r>
              <a:t>drivers fighting on the same wires.</a:t>
            </a:r>
          </a:p>
          <a:p/>
          <a:p>
            <a:r>
              <a:t>So we put a two-to-one switch in between, controlled by one signal: is the</a:t>
            </a:r>
          </a:p>
          <a:p>
            <a:r>
              <a:t>softmax engine active? If yes, the engine owns the bus and the processor's</a:t>
            </a:r>
          </a:p>
          <a:p>
            <a:r>
              <a:t>requests are held off. If no, the processor owns it, exactly as before.</a:t>
            </a:r>
          </a:p>
          <a:p/>
          <a:p>
            <a:r>
              <a:t>Because the DLX is stopped in the waiting state while softmax runs, it is not</a:t>
            </a:r>
          </a:p>
          <a:p>
            <a:r>
              <a:t>actually trying to use memory during that window. So in practice nothing is ever</a:t>
            </a:r>
          </a:p>
          <a:p>
            <a:r>
              <a:t>delayed — but the arbiter guarantees it, rather than relying on that being true.</a:t>
            </a:r>
          </a:p>
          <a:p/>
          <a:p>
            <a:r>
              <a:t>SOURCE: docs/architecture_block_diagrams.md, 'mem_arbiter'; final_simple_DLX/.../mem_arbiter.v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design decision I most want you to take away.</a:t>
            </a:r>
          </a:p>
          <a:p/>
          <a:p>
            <a:r>
              <a:t>The other four functions take one number and give one back — that fits the</a:t>
            </a:r>
          </a:p>
          <a:p>
            <a:r>
              <a:t>processor perfectly. Softmax cannot, because it needs the whole vector before it</a:t>
            </a:r>
          </a:p>
          <a:p>
            <a:r>
              <a:t>can produce any single output: every answer depends on the maximum and on the</a:t>
            </a:r>
          </a:p>
          <a:p>
            <a:r>
              <a:t>sum over all elements.</a:t>
            </a:r>
          </a:p>
          <a:p/>
          <a:p>
            <a:r>
              <a:t>On the left is the obvious approach: pull the vector through the register file.</a:t>
            </a:r>
          </a:p>
          <a:p>
            <a:r>
              <a:t>Every element costs a load, the computation, and a store — and a load or a store</a:t>
            </a:r>
          </a:p>
          <a:p>
            <a:r>
              <a:t>is fourteen clock cycles by itself. For a five-hundred-element vector that is</a:t>
            </a:r>
          </a:p>
          <a:p>
            <a:r>
              <a:t>tens of thousands of cycles just moving data.</a:t>
            </a:r>
          </a:p>
          <a:p/>
          <a:p>
            <a:r>
              <a:t>On the right is what we built. The softmax instruction hands the engine two</a:t>
            </a:r>
          </a:p>
          <a:p>
            <a:r>
              <a:t>addresses and a length; the engine generates its own addresses and reads and</a:t>
            </a:r>
          </a:p>
          <a:p>
            <a:r>
              <a:t>writes memory directly. The vector never enters a register.</a:t>
            </a:r>
          </a:p>
          <a:p/>
          <a:p>
            <a:r>
              <a:t>That is why the memory arbiter had to exist, and it is why softmax shows the</a:t>
            </a:r>
          </a:p>
          <a:p>
            <a:r>
              <a:t>biggest speed-up of all five functions, which you will see in a moment.</a:t>
            </a:r>
          </a:p>
          <a:p/>
          <a:p>
            <a:r>
              <a:t>SOURCE: README.md 'Softmax Instruction'; design/Softmax/softmax_dma.v; load/store latency 14 clk from results/timing results/*.txt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measurements, the obvious question: how do you know any of this is</a:t>
            </a:r>
          </a:p>
          <a:p>
            <a:r>
              <a:t>actually correct?</a:t>
            </a:r>
          </a:p>
          <a:p/>
          <a:p>
            <a:r>
              <a:t>The answer is that nothing in this project was checked by looking at a waveform</a:t>
            </a:r>
          </a:p>
          <a:p>
            <a:r>
              <a:t>and deciding it seemed reasonable. For every unit we wrote a Python golden model</a:t>
            </a:r>
          </a:p>
          <a:p>
            <a:r>
              <a:t>first — the same arithmetic, in Q16.16, worked out independently. That model</a:t>
            </a:r>
          </a:p>
          <a:p>
            <a:r>
              <a:t>then generates the test vectors: each one is an input plus the exact 32-bit word</a:t>
            </a:r>
          </a:p>
          <a:p>
            <a:r>
              <a:t>the hardware must produce. The testbench feeds those into the real Verilog, the</a:t>
            </a:r>
          </a:p>
          <a:p>
            <a:r>
              <a:t>same module that gets synthesised onto the chip, and compares thirty-two bits</a:t>
            </a:r>
          </a:p>
          <a:p>
            <a:r>
              <a:t>against thirty-two bits. Not approximately equal — identical.</a:t>
            </a:r>
          </a:p>
          <a:p/>
          <a:p>
            <a:r>
              <a:t>The scale is the point. Sigmoid was swept with 655,362 inputs, GELU with</a:t>
            </a:r>
          </a:p>
          <a:p>
            <a:r>
              <a:t>655,361, tanh with 524,289. That is not a sample; for those ranges it is</a:t>
            </a:r>
          </a:p>
          <a:p>
            <a:r>
              <a:t>effectively every representable input, at the full Q16.16 step of two to the</a:t>
            </a:r>
          </a:p>
          <a:p>
            <a:r>
              <a:t>minus sixteen. Softmax cannot be swept that way because its input is a whole</a:t>
            </a:r>
          </a:p>
          <a:p>
            <a:r>
              <a:t>vector, so it gets 1,050 complete test vectors of up to five hundred elements,</a:t>
            </a:r>
          </a:p>
          <a:p>
            <a:r>
              <a:t>checked element by element, with a coverage collector confirming every class of</a:t>
            </a:r>
          </a:p>
          <a:p>
            <a:r>
              <a:t>vector was actually exercised.</a:t>
            </a:r>
          </a:p>
          <a:p/>
          <a:p>
            <a:r>
              <a:t>And it did find real bugs. Early softmax runs failed on extreme-spread vectors —</a:t>
            </a:r>
          </a:p>
          <a:p>
            <a:r>
              <a:t>the outputs summed to about 1.35 instead of 1. We root-caused and fixed those,</a:t>
            </a:r>
          </a:p>
          <a:p>
            <a:r>
              <a:t>and re-ran the whole suite after every change.</a:t>
            </a:r>
          </a:p>
          <a:p/>
          <a:p>
            <a:r>
              <a:t>The last piece is on the right, and it is the one a processor designer should</a:t>
            </a:r>
          </a:p>
          <a:p>
            <a:r>
              <a:t>care about most. We re-run the entire original instruction set — ALU, shifts,</a:t>
            </a:r>
          </a:p>
          <a:p>
            <a:r>
              <a:t>compares, loads, stores, branches, jumps — on the extended control unit. It all</a:t>
            </a:r>
          </a:p>
          <a:p>
            <a:r>
              <a:t>still passes, which is the evidence that adding five instructions did not</a:t>
            </a:r>
          </a:p>
          <a:p>
            <a:r>
              <a:t>quietly break the machine we started from.</a:t>
            </a:r>
          </a:p>
          <a:p/>
          <a:p>
            <a:r>
              <a:t>SOURCE: project_book/sections/simulation.tex 'RTL Testbench Results'; vector counts from design/sigmoid_subenv/*_vectors.sv and design/Softmax/softmax_vectors.sv (SOFTMAX_NUM_TESTS = 1050)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the speed numbers, how they were produced, because a speed-up claim is</a:t>
            </a:r>
          </a:p>
          <a:p>
            <a:r>
              <a:t>only worth what the comparison behind it is worth.</a:t>
            </a:r>
          </a:p>
          <a:p/>
          <a:p>
            <a:r>
              <a:t>Every one of the five functions was written twice, as two complete DLX programs</a:t>
            </a:r>
          </a:p>
          <a:p>
            <a:r>
              <a:t>that compute the same thing. Ten programs in total, and they all live in the</a:t>
            </a:r>
          </a:p>
          <a:p>
            <a:r>
              <a:t>asm folder of the repository.</a:t>
            </a:r>
          </a:p>
          <a:p/>
          <a:p>
            <a:r>
              <a:t>On the left is the software version. No new instructions — only what the</a:t>
            </a:r>
          </a:p>
          <a:p>
            <a:r>
              <a:t>original DLX already had. For sigmoid that is the five-segment piecewise-linear</a:t>
            </a:r>
          </a:p>
          <a:p>
            <a:r>
              <a:t>approximation done by hand: mirror the input if it is negative, compare against</a:t>
            </a:r>
          </a:p>
          <a:p>
            <a:r>
              <a:t>each segment threshold, and shift. And notice the two srli lines, because this</a:t>
            </a:r>
          </a:p>
          <a:p>
            <a:r>
              <a:t>is the detail people miss: our shifter moves exactly one bit per instruction,</a:t>
            </a:r>
          </a:p>
          <a:p>
            <a:r>
              <a:t>so a divide-by-thirty-two is five instructions, not one. That is a hundred and</a:t>
            </a:r>
          </a:p>
          <a:p>
            <a:r>
              <a:t>forty lines of assembly, twenty-eight instructions actually executed, two</a:t>
            </a:r>
          </a:p>
          <a:p>
            <a:r>
              <a:t>hundred and forty-nine clock cycles.</a:t>
            </a:r>
          </a:p>
          <a:p/>
          <a:p>
            <a:r>
              <a:t>On the right is the accelerated version. Load the input, one sigmoid</a:t>
            </a:r>
          </a:p>
          <a:p>
            <a:r>
              <a:t>instruction, store the result, halt. The whole approximation moved out of the</a:t>
            </a:r>
          </a:p>
          <a:p>
            <a:r>
              <a:t>program and into the Activation Engine. Six instructions, fifty-seven cycles.</a:t>
            </a:r>
          </a:p>
          <a:p/>
          <a:p>
            <a:r>
              <a:t>Three things make this a fair fight. Same processor, same clock, same memory</a:t>
            </a:r>
          </a:p>
          <a:p>
            <a:r>
              <a:t>system — the only difference is which instructions the program is allowed to</a:t>
            </a:r>
          </a:p>
          <a:p>
            <a:r>
              <a:t>use. Same input word going in. And the same thirty-two-bit word coming out:</a:t>
            </a:r>
          </a:p>
          <a:p>
            <a:r>
              <a:t>the software routine implements exactly the algorithm the hardware implements,</a:t>
            </a:r>
          </a:p>
          <a:p>
            <a:r>
              <a:t>so both return 0x0000_EC00 for 0x0002_8000. If they disagreed, the comparison</a:t>
            </a:r>
          </a:p>
          <a:p>
            <a:r>
              <a:t>would be meaningless, so bit-exactness is not a bonus here, it is what makes</a:t>
            </a:r>
          </a:p>
          <a:p>
            <a:r>
              <a:t>the measurement valid.</a:t>
            </a:r>
          </a:p>
          <a:p/>
          <a:p>
            <a:r>
              <a:t>ReLU is the honest exception. Its software version is only eight instructions</a:t>
            </a:r>
          </a:p>
          <a:p>
            <a:r>
              <a:t>to begin with, so there is very little for the hardware to remove — and that</a:t>
            </a:r>
          </a:p>
          <a:p>
            <a:r>
              <a:t>shows up in the next slide as the smallest gap of the five.</a:t>
            </a:r>
          </a:p>
          <a:p/>
          <a:p>
            <a:r>
              <a:t>The counts on the next slide come from the simulator, not from an estimate:</a:t>
            </a:r>
          </a:p>
          <a:p>
            <a:r>
              <a:t>every program was run to completion and the cycles counted.</a:t>
            </a:r>
          </a:p>
          <a:p/>
          <a:p>
            <a:r>
              <a:t>SOURCE: asm/*.s and asm/*_accel.s (five pairs); results/DLX-NN_Project_Targets.xlsx, sheet '2. Cycle Count'  (raw simulator logs: results/timing results/*.txt)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the numbers those ten programs produced. The scale is logarithmic, because</a:t>
            </a:r>
          </a:p>
          <a:p>
            <a:r>
              <a:t>the range is enormous.</a:t>
            </a:r>
          </a:p>
          <a:p/>
          <a:p>
            <a:r>
              <a:t>Sigmoid: 249 cycles down to 57. Tanh: 347 down to 57. GELU: 387 down to 58. The</a:t>
            </a:r>
          </a:p>
          <a:p>
            <a:r>
              <a:t>hardware numbers are almost identical because the work is now one instruction</a:t>
            </a:r>
          </a:p>
          <a:p>
            <a:r>
              <a:t>finishing in one clock — what is left is the fetch, the load and the store.</a:t>
            </a:r>
          </a:p>
          <a:p/>
          <a:p>
            <a:r>
              <a:t>ReLU: 72 down to 57. A much smaller gap, and I will come back to that.</a:t>
            </a:r>
          </a:p>
          <a:p/>
          <a:p>
            <a:r>
              <a:t>Softmax: 4,675 cycles down to 163. That is the DMA design paying off.</a:t>
            </a:r>
          </a:p>
          <a:p/>
          <a:p>
            <a:r>
              <a:t>Added together, the five programs went from 5,730 clock cycles to 392. Fourteen</a:t>
            </a:r>
          </a:p>
          <a:p>
            <a:r>
              <a:t>and a half times faster overall; twenty-nine times faster on softmax alone.</a:t>
            </a:r>
          </a:p>
          <a:p/>
          <a:p>
            <a:r>
              <a:t>SOURCE: results/DLX-NN_Project_Targets.xlsx, sheet '2. Cycle Count'  (raw simulator logs: results/timing results/*.txt)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same data as a percentage, against the requirement.</a:t>
            </a:r>
          </a:p>
          <a:p/>
          <a:p>
            <a:r>
              <a:t>Sigmoid removes 77 percent of the cycles. Tanh, 84. GELU, 85. Softmax, 96.5 —</a:t>
            </a:r>
          </a:p>
          <a:p>
            <a:r>
              <a:t>all far above the line.</a:t>
            </a:r>
          </a:p>
          <a:p/>
          <a:p>
            <a:r>
              <a:t>ReLU is at 20.8 percent and does not reach 30. I want to be straight about that</a:t>
            </a:r>
          </a:p>
          <a:p>
            <a:r>
              <a:t>rather than hide it in an average.</a:t>
            </a:r>
          </a:p>
          <a:p/>
          <a:p>
            <a:r>
              <a:t>The reason is the one from the ReLU slide. In software ReLU is a compare and a</a:t>
            </a:r>
          </a:p>
          <a:p>
            <a:r>
              <a:t>branch — eight instructions, 72 cycles. Ours is six instructions, 57 cycles.</a:t>
            </a:r>
          </a:p>
          <a:p>
            <a:r>
              <a:t>Most of what remains in both is not ReLU at all: it is the load and the store,</a:t>
            </a:r>
          </a:p>
          <a:p>
            <a:r>
              <a:t>fourteen cycles each. You cannot accelerate away work the accelerator never</a:t>
            </a:r>
          </a:p>
          <a:p>
            <a:r>
              <a:t>does.</a:t>
            </a:r>
          </a:p>
          <a:p/>
          <a:p>
            <a:r>
              <a:t>Across all five programs together — which is how the requirement is stated, as</a:t>
            </a:r>
          </a:p>
          <a:p>
            <a:r>
              <a:t>the cost of the activation workload — the reduction is 93.2 percent. So R1 is</a:t>
            </a:r>
          </a:p>
          <a:p>
            <a:r>
              <a:t>met, and met with a large margin on the four functions that actually cost</a:t>
            </a:r>
          </a:p>
          <a:p>
            <a:r>
              <a:t>something.</a:t>
            </a:r>
          </a:p>
          <a:p/>
          <a:p>
            <a:r>
              <a:t>If ReLU alone had to clear 30 percent, the fix would not be a faster ReLU; it</a:t>
            </a:r>
          </a:p>
          <a:p>
            <a:r>
              <a:t>would be a faster memory interface.</a:t>
            </a:r>
          </a:p>
          <a:p/>
          <a:p>
            <a:r>
              <a:t>SOURCE: results/DLX-NN_Project_Targets.xlsx, sheet '2. Cycle Count'  (raw simulator logs: results/timing results/*.txt); requirement R1 from CLAUDE.md and the 'Meets &gt;= 30%?' column of the same sheet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third requirement, and the one we did not meet as stated — I would rather</a:t>
            </a:r>
          </a:p>
          <a:p>
            <a:r>
              <a:t>put that on the slide than bury it.</a:t>
            </a:r>
          </a:p>
          <a:p/>
          <a:p>
            <a:r>
              <a:t>The plain DLX uses 1,073 logic cells and 676 flip-flops; with the engine, 2,282</a:t>
            </a:r>
          </a:p>
          <a:p>
            <a:r>
              <a:t>and 1,183. That is 113 percent more logic and 75 percent more registers, against</a:t>
            </a:r>
          </a:p>
          <a:p>
            <a:r>
              <a:t>a 20 percent budget. We are well over it.</a:t>
            </a:r>
          </a:p>
          <a:p/>
          <a:p>
            <a:r>
              <a:t>Two things to say, and neither is an excuse.</a:t>
            </a:r>
          </a:p>
          <a:p/>
          <a:p>
            <a:r>
              <a:t>First: a 20 percent budget was realistic for a small arithmetic unit, not for</a:t>
            </a:r>
          </a:p>
          <a:p>
            <a:r>
              <a:t>what we actually built — a piecewise-linear evaluator, a reciprocal unit, a</a:t>
            </a:r>
          </a:p>
          <a:p>
            <a:r>
              <a:t>two-pass state machine and a DMA engine with its own address generator. The</a:t>
            </a:r>
          </a:p>
          <a:p>
            <a:r>
              <a:t>softmax engine alone is a large share of that growth. The budget should have</a:t>
            </a:r>
          </a:p>
          <a:p>
            <a:r>
              <a:t>been set per function, not for the whole extension.</a:t>
            </a:r>
          </a:p>
          <a:p/>
          <a:p>
            <a:r>
              <a:t>Second, the number that decides whether it was worth doing: area multiplied by</a:t>
            </a:r>
          </a:p>
          <a:p>
            <a:r>
              <a:t>time. Across all five functions that improves 6.9 times; for softmax alone,</a:t>
            </a:r>
          </a:p>
          <a:p>
            <a:r>
              <a:t>13.5. The only bad trade is ReLU, the same story as the previous slide.</a:t>
            </a:r>
          </a:p>
          <a:p/>
          <a:p>
            <a:r>
              <a:t>And in absolute terms it is not large: the whole extended processor uses fifteen</a:t>
            </a:r>
          </a:p>
          <a:p>
            <a:r>
              <a:t>percent of this Spartan-6.</a:t>
            </a:r>
          </a:p>
          <a:p/>
          <a:p>
            <a:r>
              <a:t>SOURCE: results/DLX-NN_Project_Targets.xlsx, sheet '3. Area'  (raw: results/Utilization_Summary/*.pdf); results/DLX-NN_Project_Targets.xlsx, sheet '4. Worth It (Area x Delay)'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piece of this project is neither hardware nor mathematics, and it is what</a:t>
            </a:r>
          </a:p>
          <a:p>
            <a:r>
              <a:t>makes the rest usable.</a:t>
            </a:r>
          </a:p>
          <a:p/>
          <a:p>
            <a:r>
              <a:t>We put five instructions in the silicon, but the lab's assembler knew nothing</a:t>
            </a:r>
          </a:p>
          <a:p>
            <a:r>
              <a:t>about them: writing "sigmoid R2 R1 0x0" was a syntax error. The only way to</a:t>
            </a:r>
          </a:p>
          <a:p>
            <a:r>
              <a:t>reach our own hardware was to hand-compute the 32-bit word and paste it in as a</a:t>
            </a:r>
          </a:p>
          <a:p>
            <a:r>
              <a:t>raw constant — the line on the left.</a:t>
            </a:r>
          </a:p>
          <a:p/>
          <a:p>
            <a:r>
              <a:t>RESA does not have its instruction set compiled in; it reads it at start-up from</a:t>
            </a:r>
          </a:p>
          <a:p>
            <a:r>
              <a:t>commands.xml. So we added six entries to that file — the five activations plus</a:t>
            </a:r>
          </a:p>
          <a:p>
            <a:r>
              <a:t>the Q16.16 multiply — each declaring the mnemonic, the operands and the opcode</a:t>
            </a:r>
          </a:p>
          <a:p>
            <a:r>
              <a:t>bits. Now the line on the right assembles to exactly the same word, and the</a:t>
            </a:r>
          </a:p>
          <a:p>
            <a:r>
              <a:t>operands get checked for us.</a:t>
            </a:r>
          </a:p>
          <a:p/>
          <a:p>
            <a:r>
              <a:t>One trap. All six are declared I-type, even softmax and mult, whose hardware</a:t>
            </a:r>
          </a:p>
          <a:p>
            <a:r>
              <a:t>format is really R-type — because RESA's R-type encoder forces the opcode field</a:t>
            </a:r>
          </a:p>
          <a:p>
            <a:r>
              <a:t>to zero and ignores what you declare, so a type-R entry emitted a completely</a:t>
            </a:r>
          </a:p>
          <a:p>
            <a:r>
              <a:t>different instruction. The I-type layout happens to produce the exact hardware</a:t>
            </a:r>
          </a:p>
          <a:p>
            <a:r>
              <a:t>word.</a:t>
            </a:r>
          </a:p>
          <a:p/>
          <a:p>
            <a:r>
              <a:t>And one instruction had to go: pushi used opcode 111001, which now belongs to</a:t>
            </a:r>
          </a:p>
          <a:p>
            <a:r>
              <a:t>tanh.</a:t>
            </a:r>
          </a:p>
          <a:p/>
          <a:p>
            <a:r>
              <a:t>SOURCE: RESA_ENV/commands.xml (the table the RESA compiler reads); RESA_ENV/OPCODES.md; hand-encoding 0xE0220000 from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whole thing doing a real job.</a:t>
            </a:r>
          </a:p>
          <a:p/>
          <a:p>
            <a:r>
              <a:t>A small network that reads handwritten digits. The image is sixteen by sixteen —</a:t>
            </a:r>
          </a:p>
          <a:p>
            <a:r>
              <a:t>that grid on the left is all 256 pixels. They feed sixteen hidden neurons, which</a:t>
            </a:r>
          </a:p>
          <a:p>
            <a:r>
              <a:t>feed ten scores, one per digit. Softmax turns those into probabilities and the</a:t>
            </a:r>
          </a:p>
          <a:p>
            <a:r>
              <a:t>largest wins. Here it reads a zero; the green node is the answer.</a:t>
            </a:r>
          </a:p>
          <a:p/>
          <a:p>
            <a:r>
              <a:t>Every activation in that picture is one of ours: ReLU in the hidden layer,</a:t>
            </a:r>
          </a:p>
          <a:p>
            <a:r>
              <a:t>softmax at the output.</a:t>
            </a:r>
          </a:p>
          <a:p/>
          <a:p>
            <a:r>
              <a:t>We wrote the network twice in DLX assembly — once with the original instruction</a:t>
            </a:r>
          </a:p>
          <a:p>
            <a:r>
              <a:t>set, once with ours — and check the output scores are bit-for-bit identical</a:t>
            </a:r>
          </a:p>
          <a:p>
            <a:r>
              <a:t>before trusting anything.</a:t>
            </a:r>
          </a:p>
          <a:p/>
          <a:p>
            <a:r>
              <a:t>The software version takes about 635,000 steps. The hardware version takes about</a:t>
            </a:r>
          </a:p>
          <a:p>
            <a:r>
              <a:t>34,400. Eighteen times fewer.</a:t>
            </a:r>
          </a:p>
          <a:p/>
          <a:p>
            <a:r>
              <a:t>On the standard test set the network is 95.6 percent accurate with ReLU, 95.3</a:t>
            </a:r>
          </a:p>
          <a:p>
            <a:r>
              <a:t>with tanh. On ten digits we drew and photographed ourselves it gets nine out of</a:t>
            </a:r>
          </a:p>
          <a:p>
            <a:r>
              <a:t>ten — the miss is a four read as a nine, a genuinely ambiguous shape at sixteen</a:t>
            </a:r>
          </a:p>
          <a:p>
            <a:r>
              <a:t>by sixteen rather than a bug.</a:t>
            </a:r>
          </a:p>
          <a:p/>
          <a:p>
            <a:r>
              <a:t>SOURCE: nn/asm-nn/generated/README.md  and  nn/asm-nn/diagram/NN_EXPLAINED.md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summarise against the three requirements we set at the start.</a:t>
            </a:r>
          </a:p>
          <a:p/>
          <a:p>
            <a:r>
              <a:t>Accuracy: required no worse than 0.025 mean squared error. Our worst function is</a:t>
            </a:r>
          </a:p>
          <a:p>
            <a:r>
              <a:t>GELU at 4.9 ten-thousandths, fifty times inside the requirement, and ReLU is</a:t>
            </a:r>
          </a:p>
          <a:p>
            <a:r>
              <a:t>exact. Met.</a:t>
            </a:r>
          </a:p>
          <a:p/>
          <a:p>
            <a:r>
              <a:t>Speed, requirement R1: required a 30 percent cut. Over the five programs</a:t>
            </a:r>
          </a:p>
          <a:p>
            <a:r>
              <a:t>together we removed 93.2 percent. Four of the five clear the line individually;</a:t>
            </a:r>
          </a:p>
          <a:p>
            <a:r>
              <a:t>ReLU is at 20.8 percent because its software version was already almost free.</a:t>
            </a:r>
          </a:p>
          <a:p/>
          <a:p>
            <a:r>
              <a:t>Area: required no more than 20 percent extra logic. We used 113 percent more.</a:t>
            </a:r>
          </a:p>
          <a:p>
            <a:r>
              <a:t>Missed, and I will not argue otherwise — only that area multiplied by time still</a:t>
            </a:r>
          </a:p>
          <a:p>
            <a:r>
              <a:t>improves 6.9 times, and the finished processor occupies fifteen percent of the</a:t>
            </a:r>
          </a:p>
          <a:p>
            <a:r>
              <a:t>FPGA, so nothing about it is impractical.</a:t>
            </a:r>
          </a:p>
          <a:p/>
          <a:p>
            <a:r>
              <a:t>What exists at the end: a DLX processor with five new instructions, one shared</a:t>
            </a:r>
          </a:p>
          <a:p>
            <a:r>
              <a:t>sigmoid core serving three of them, a DMA softmax engine that works directly on</a:t>
            </a:r>
          </a:p>
          <a:p>
            <a:r>
              <a:t>memory, and a handwritten-digit classifier that runs on the result.</a:t>
            </a:r>
          </a:p>
          <a:p/>
          <a:p>
            <a:r>
              <a:t>SOURCE: results/DLX-NN_Project_Targets.xlsx, sheet '1. Accuracy'; results/DLX-NN_Project_Targets.xlsx, sheet '2. Cycle Count'  (raw simulator logs: results/timing results/*.txt); results/DLX-NN_Project_Targets.xlsx, sheet '3. Area'  (raw: results/Utilization_Summary/*.pdf); results/DLX-NN_Project_Targets.xlsx, sheet '4. Worth It (Area x Delay)'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 We are happy to take questions.</a:t>
            </a:r>
          </a:p>
          <a:p/>
          <a:p>
            <a:r>
              <a:t>Things we are ready for: why piecewise-linear instead of a lookup table; why</a:t>
            </a:r>
          </a:p>
          <a:p>
            <a:r>
              <a:t>Q16.16 rather than floating point; what the softmax engine does when the vector</a:t>
            </a:r>
          </a:p>
          <a:p>
            <a:r>
              <a:t>is longer than the 2047-element limit; how the area would change if softmax were</a:t>
            </a:r>
          </a:p>
          <a:p>
            <a:r>
              <a:t>dropped; and what would have to change to pipeline the processor.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418D1-F151-4A1A-AFA6-1FCB5125A92E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05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7F67C-1AAC-41A5-BA08-7B0723E42167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2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75C26D-52F0-48CD-A26B-03EAFD2B9DF3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801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BBECA-3C0A-4CD9-9812-4FBF50F0829F}" type="datetime1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14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F0E8-360B-4BB4-8873-CE1C24987C49}" type="datetime1">
              <a:rPr lang="en-US" smtClean="0"/>
              <a:t>12/15/2021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9C237-DA93-4873-9F13-2D421E4D5784}" type="datetime1">
              <a:rPr lang="en-US" smtClean="0"/>
              <a:t>12/15/2021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3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7881F-D2DD-4759-A335-6ECF54EA6174}" type="datetime1">
              <a:rPr lang="en-US" smtClean="0"/>
              <a:t>12/15/2021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21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FE89D-0E68-4F88-8280-A11E17E07B1E}" type="datetime1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60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40482-3831-4044-A267-EC94C1533077}" type="datetime1">
              <a:rPr lang="en-US" smtClean="0"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25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2360F-72F0-40E4-9497-E500D92B1CFF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73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6CB8-DFD9-47B7-B7FB-CD991A84E186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12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48A5E2-79BB-466B-93AD-FE62946A96F1}" type="datetime1">
              <a:rPr lang="en-US" smtClean="0"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A11E8-8F25-49C3-8F7D-865FECFDFD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084831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E05D07"/>
                </a:solidFill>
                <a:latin typeface="Calibri"/>
              </a:rPr>
              <a:t>TEL AVIV UNIVERSITY  ·  FACULTY OF ENGINEERING  ·  SCHOOL OF ELECTRICAL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560320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5400" b="1">
                <a:solidFill>
                  <a:srgbClr val="111418"/>
                </a:solidFill>
                <a:latin typeface="Calibri Light"/>
              </a:rPr>
              <a:t>DLX-NN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2200" b="0">
                <a:solidFill>
                  <a:srgbClr val="6B7280"/>
                </a:solidFill>
                <a:latin typeface="Calibri"/>
              </a:rPr>
              <a:t>A RISC processor that computes neural-network activation functions in hardware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617720"/>
            <a:ext cx="2743200" cy="25400"/>
          </a:xfrm>
          <a:prstGeom prst="rect">
            <a:avLst/>
          </a:prstGeom>
          <a:solidFill>
            <a:srgbClr val="E05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956048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libri"/>
              </a:rPr>
              <a:t>Saed Abu Fool</a:t>
            </a:r>
            <a:r>
              <a:rPr sz="1700" b="0">
                <a:solidFill>
                  <a:srgbClr val="9CA3AF"/>
                </a:solidFill>
                <a:latin typeface="Calibri"/>
              </a:rPr>
              <a:t>   ·   </a:t>
            </a:r>
            <a:r>
              <a:rPr sz="1700" b="1">
                <a:solidFill>
                  <a:srgbClr val="111418"/>
                </a:solidFill>
                <a:latin typeface="Calibri"/>
              </a:rPr>
              <a:t>Saleh Khalil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Supervisor:  Oren Ganon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A neural network is cheap arithmetic, plus one expensive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</a:t>
            </a:r>
          </a:p>
        </p:txBody>
      </p:sp>
      <p:pic>
        <p:nvPicPr>
          <p:cNvPr id="6" name="Picture 5" descr="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75368"/>
            <a:ext cx="10515600" cy="28306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901184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17550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every neuron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77900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an activation runs at every neuron,
on every layer, on every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517550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exp  ·  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577900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the two operations it needs —
and the two this processor lacks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17550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1 instruction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77900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what we built: each activation
in a single machine instruction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Where we started: the DLX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baseline_dlx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54454"/>
            <a:ext cx="10515600" cy="363138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505297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1">
                <a:solidFill>
                  <a:srgbClr val="6B7280"/>
                </a:solidFill>
                <a:latin typeface="Calibri"/>
              </a:rPr>
              <a:t>It can do:   </a:t>
            </a:r>
            <a:r>
              <a:rPr sz="1450" b="1">
                <a:solidFill>
                  <a:srgbClr val="111418"/>
                </a:solidFill>
                <a:latin typeface="Calibri"/>
              </a:rPr>
              <a:t>add · subtract · and · or · xor · compare · shift · load · store · branch · jump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450" b="1">
                <a:solidFill>
                  <a:srgbClr val="6B7280"/>
                </a:solidFill>
                <a:latin typeface="Calibri"/>
              </a:rPr>
              <a:t>It cannot do:   </a:t>
            </a:r>
            <a:r>
              <a:rPr sz="1450" b="1">
                <a:solidFill>
                  <a:srgbClr val="E05D07"/>
                </a:solidFill>
                <a:latin typeface="Calibri"/>
              </a:rPr>
              <a:t>any neural-network activation function — no exponent, no divide, no multiply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What the processor has to compute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4</a:t>
            </a:r>
          </a:p>
        </p:txBody>
      </p:sp>
      <p:pic>
        <p:nvPicPr>
          <p:cNvPr id="6" name="Picture 5" descr="goal_fun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88722"/>
            <a:ext cx="10515600" cy="24723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178808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4348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AND IT MUST MEET THREE 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837176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≤ 0.025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440680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mean squared error
against exact math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837176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≥ 30 %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5440680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fewer clock cycles
than the software 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837176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≤ 20 %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5440680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extra chip area
over the plain DLX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Every number is a 32-bit integer with an implied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FIRST, HOW WE STORE A FRACTION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q16_bit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279" y="1481328"/>
            <a:ext cx="10049537" cy="35204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5084064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58384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2⁻¹⁶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61888"/>
            <a:ext cx="283464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the smallest step we can represent
about 0.000015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4488" y="5358384"/>
            <a:ext cx="44805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200" b="0">
                <a:solidFill>
                  <a:srgbClr val="111418"/>
                </a:solidFill>
                <a:latin typeface="Calibri Light"/>
              </a:rPr>
              <a:t>[−32768, +32767.99998]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04488" y="5961888"/>
            <a:ext cx="44805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the exact range it covers
plenty for a neural network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59368" y="5358384"/>
            <a:ext cx="26974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0 extra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9368" y="5961888"/>
            <a:ext cx="26974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hardware for add and subtract
they are ordinary integer 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Sigmoid: a curve made of five straight 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ACTIVATION FUNCTION 1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n_sigmo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5009"/>
            <a:ext cx="6355080" cy="37577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517904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00784"/>
            <a:ext cx="3904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HOW </a:t>
            </a:r>
            <a:r>
              <a:rPr sz="1050" b="1">
                <a:solidFill>
                  <a:srgbClr val="FF0000"/>
                </a:solidFill>
                <a:latin typeface="Calibri"/>
              </a:rPr>
              <a:t>OUR</a:t>
            </a:r>
            <a:r>
              <a:rPr sz="1050" b="1">
                <a:solidFill>
                  <a:srgbClr val="6B7280"/>
                </a:solidFill>
                <a:latin typeface="Calibri"/>
              </a:rPr>
              <a:t> HARDWARE DOES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11680"/>
            <a:ext cx="390448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E05D07"/>
                </a:solidFill>
                <a:latin typeface="Calibri Light"/>
              </a:rPr>
              <a:t>σ(x)  ≈  (x ≫ k)  +  b</a:t>
            </a:r>
          </a:p>
        </p:txBody>
      </p:sp>
      <p:pic>
        <p:nvPicPr>
          <p:cNvPr id="10" name="Picture 9" descr="impl_sigmo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161" y="2578608"/>
            <a:ext cx="3820885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4498848"/>
            <a:ext cx="39044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111418"/>
                </a:solidFill>
                <a:latin typeface="Calibri"/>
              </a:rPr>
              <a:t>Five straight segments replace the curve. Every slope is a power of two — shifts, not multiplies.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5486400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5632704"/>
            <a:ext cx="39044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888736"/>
            <a:ext cx="15617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0">
                <a:solidFill>
                  <a:srgbClr val="E05D07"/>
                </a:solidFill>
                <a:latin typeface="Calibri Light"/>
              </a:rPr>
              <a:t>4.69e−5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4155" y="5925312"/>
            <a:ext cx="23426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mean squared error over [-10, 10]
requirement ≤ 0.025   ·   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Tanh: the same block, used twice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ACTIVATION FUNCTION 2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n_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5009"/>
            <a:ext cx="6355080" cy="37577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517904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00784"/>
            <a:ext cx="3904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HOW </a:t>
            </a:r>
            <a:r>
              <a:rPr sz="1050" b="1">
                <a:solidFill>
                  <a:srgbClr val="FF0000"/>
                </a:solidFill>
                <a:latin typeface="Calibri"/>
              </a:rPr>
              <a:t>OUR</a:t>
            </a:r>
            <a:r>
              <a:rPr sz="1050" b="1">
                <a:solidFill>
                  <a:srgbClr val="6B7280"/>
                </a:solidFill>
                <a:latin typeface="Calibri"/>
              </a:rPr>
              <a:t> HARDWARE DOES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11680"/>
            <a:ext cx="390448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E05D07"/>
                </a:solidFill>
                <a:latin typeface="Calibri Light"/>
              </a:rPr>
              <a:t>tanh(x)  =  2·σ(2x) − 1</a:t>
            </a:r>
          </a:p>
        </p:txBody>
      </p:sp>
      <p:pic>
        <p:nvPicPr>
          <p:cNvPr id="10" name="Picture 9" descr="impl_tan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161" y="2578608"/>
            <a:ext cx="3820885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4498848"/>
            <a:ext cx="39044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111418"/>
                </a:solidFill>
                <a:latin typeface="Calibri"/>
              </a:rPr>
              <a:t>No new hardware: double the input, double the output, subtract 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5486400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5632704"/>
            <a:ext cx="39044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888736"/>
            <a:ext cx="15617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0">
                <a:solidFill>
                  <a:srgbClr val="E05D07"/>
                </a:solidFill>
                <a:latin typeface="Calibri Light"/>
              </a:rPr>
              <a:t>2.34e−4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4155" y="5925312"/>
            <a:ext cx="23426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mean squared error over [-4, 4]
requirement ≤ 0.025   ·   PASS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GELU: the same block again, scaled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ACTIVATION FUNCTION 3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n_g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5009"/>
            <a:ext cx="6355080" cy="37577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517904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00784"/>
            <a:ext cx="3904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HOW </a:t>
            </a:r>
            <a:r>
              <a:rPr sz="1050" b="1">
                <a:solidFill>
                  <a:srgbClr val="FF0000"/>
                </a:solidFill>
                <a:latin typeface="Calibri"/>
              </a:rPr>
              <a:t>OUR</a:t>
            </a:r>
            <a:r>
              <a:rPr sz="1050" b="1">
                <a:solidFill>
                  <a:srgbClr val="6B7280"/>
                </a:solidFill>
                <a:latin typeface="Calibri"/>
              </a:rPr>
              <a:t> HARDWARE DOES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11680"/>
            <a:ext cx="390448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E05D07"/>
                </a:solidFill>
                <a:latin typeface="Calibri Light"/>
              </a:rPr>
              <a:t>GELU(x)  ≈  x · σ(1.702x)</a:t>
            </a:r>
          </a:p>
        </p:txBody>
      </p:sp>
      <p:pic>
        <p:nvPicPr>
          <p:cNvPr id="10" name="Picture 9" descr="impl_gel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4161" y="2578608"/>
            <a:ext cx="3820885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4498848"/>
            <a:ext cx="39044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111418"/>
                </a:solidFill>
                <a:latin typeface="Calibri"/>
              </a:rPr>
              <a:t>The sigmoid block again, input scaled by 1.702. The only one that also needs the multiplier.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5486400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5632704"/>
            <a:ext cx="39044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888736"/>
            <a:ext cx="15617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0">
                <a:solidFill>
                  <a:srgbClr val="E05D07"/>
                </a:solidFill>
                <a:latin typeface="Calibri Light"/>
              </a:rPr>
              <a:t>4.92e−4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4155" y="5925312"/>
            <a:ext cx="23426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mean squared error over [-5, 5]
requirement ≤ 0.025   ·   PASS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ReLU: one look at the sign 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ACTIVATION FUNCTION 4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n_rel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374" y="1517904"/>
            <a:ext cx="6322826" cy="39319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452360" y="1517904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00784"/>
            <a:ext cx="390448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HOW </a:t>
            </a:r>
            <a:r>
              <a:rPr sz="1050" b="1">
                <a:solidFill>
                  <a:srgbClr val="FF0000"/>
                </a:solidFill>
                <a:latin typeface="Calibri"/>
              </a:rPr>
              <a:t>OUR</a:t>
            </a:r>
            <a:r>
              <a:rPr sz="1050" b="1">
                <a:solidFill>
                  <a:srgbClr val="6B7280"/>
                </a:solidFill>
                <a:latin typeface="Calibri"/>
              </a:rPr>
              <a:t> HARDWARE DOES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011680"/>
            <a:ext cx="3904487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0">
                <a:solidFill>
                  <a:srgbClr val="E05D07"/>
                </a:solidFill>
                <a:latin typeface="Calibri Light"/>
              </a:rPr>
              <a:t>ReLU(x)  =  max(0, x)</a:t>
            </a:r>
          </a:p>
        </p:txBody>
      </p:sp>
      <p:pic>
        <p:nvPicPr>
          <p:cNvPr id="10" name="Picture 9" descr="impl_rel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056" y="2578608"/>
            <a:ext cx="3753095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2360" y="4498848"/>
            <a:ext cx="3904487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111418"/>
                </a:solidFill>
                <a:latin typeface="Calibri"/>
              </a:rPr>
              <a:t>Sign bit set, the answer is zero. Otherwise the input passes straight through. Exact, not approximate.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5486400"/>
            <a:ext cx="3904487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5632704"/>
            <a:ext cx="39044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5888736"/>
            <a:ext cx="15617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2700" b="0">
                <a:solidFill>
                  <a:srgbClr val="E05D07"/>
                </a:solidFill>
                <a:latin typeface="Calibri Light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14155" y="5925312"/>
            <a:ext cx="234269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Aft>
                <a:spcPts val="0"/>
              </a:spcAft>
            </a:pPr>
            <a:r>
              <a:rPr sz="1050" b="0">
                <a:solidFill>
                  <a:srgbClr val="6B7280"/>
                </a:solidFill>
                <a:latin typeface="Calibri"/>
              </a:rPr>
              <a:t>mean squared error over [-10, 10]
requirement ≤ 0.025   ·   PASS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Softmax: a whole vector, in two passes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ACTIVATION FUNCTION 5 OF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softmax_algo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50517"/>
            <a:ext cx="10515600" cy="30985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700016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95604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THE EXPONENT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2303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E05D07"/>
                </a:solidFill>
                <a:latin typeface="Calibri Light"/>
              </a:rPr>
              <a:t>becomes a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74243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shift_exp: multiply by 1.5,
then shift right — no exp()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495604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THE DIVISION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52303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E05D07"/>
                </a:solidFill>
                <a:latin typeface="Calibri Light"/>
              </a:rPr>
              <a:t>becomes eight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574243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1/d as eight straight
segments — no divider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495604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THE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65008" y="523036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500" b="0">
                <a:solidFill>
                  <a:srgbClr val="E05D07"/>
                </a:solidFill>
                <a:latin typeface="Calibri Light"/>
              </a:rPr>
              <a:t>1.03e−4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574243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mean squared error over
1,050 vectors   ·   PASS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All five, against the accuracy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RESULT 1 OF 3  · 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11</a:t>
            </a:r>
          </a:p>
        </p:txBody>
      </p:sp>
      <p:pic>
        <p:nvPicPr>
          <p:cNvPr id="6" name="Picture 5" descr="accuracy_score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37216"/>
            <a:ext cx="10515600" cy="306352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956048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230368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33872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functions inside the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5230368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≤ 0.025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5833872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the requirement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230368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4.92e−4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833872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our worst case (GELU)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What we added, at the top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12</a:t>
            </a:r>
          </a:p>
        </p:txBody>
      </p:sp>
      <p:pic>
        <p:nvPicPr>
          <p:cNvPr id="6" name="Picture 5" descr="integration_top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955" y="1481328"/>
            <a:ext cx="9390184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88152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Everything orange is new. Everything else is the processor you saw two slides ago.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One core, three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13</a:t>
            </a:r>
          </a:p>
        </p:txBody>
      </p:sp>
      <p:pic>
        <p:nvPicPr>
          <p:cNvPr id="6" name="Picture 5" descr="activation_engine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10893"/>
            <a:ext cx="10515600" cy="40099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758585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Three separate sigmoid units would have cost roughly three times the area. We build one and mux around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The data path barely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14</a:t>
            </a:r>
          </a:p>
        </p:txBody>
      </p:sp>
      <p:pic>
        <p:nvPicPr>
          <p:cNvPr id="6" name="Picture 5" descr="datapath_mux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46960"/>
            <a:ext cx="10515600" cy="2804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38886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That is the whole change to the data path: one extra input on one multiplexer.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Three new control signals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15</a:t>
            </a:r>
          </a:p>
        </p:txBody>
      </p:sp>
      <p:pic>
        <p:nvPicPr>
          <p:cNvPr id="6" name="Picture 5" descr="control_signal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01240"/>
            <a:ext cx="10515600" cy="2804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343144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Three new signals out, one new signal back. Nothing that was already there had to 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Four new states in the instruction FSM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16</a:t>
            </a:r>
          </a:p>
        </p:txBody>
      </p:sp>
      <p:pic>
        <p:nvPicPr>
          <p:cNvPr id="6" name="Picture 5" descr="fsm_state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731264"/>
            <a:ext cx="10515600" cy="37155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684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Four new states. The scalar ones finish in one or two clocks; the last just waits for the softmax engine.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Two masters, one memory 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17</a:t>
            </a:r>
          </a:p>
        </p:txBody>
      </p:sp>
      <p:pic>
        <p:nvPicPr>
          <p:cNvPr id="6" name="Picture 5" descr="mem_arbiter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262835"/>
            <a:ext cx="10515600" cy="29724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472987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The processor was never designed to share its memory. The arbiter is what makes that safe.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Why softmax could not live in registers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BUILDING IT IN  ·  STEP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18</a:t>
            </a:r>
          </a:p>
        </p:txBody>
      </p:sp>
      <p:pic>
        <p:nvPicPr>
          <p:cNvPr id="6" name="Picture 5" descr="softmax_memflow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27860"/>
            <a:ext cx="10515600" cy="3505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" y="5670803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Softmax needs the whole vector — so it is the one function that could not stay inside the register file.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How we know it is 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19</a:t>
            </a:r>
          </a:p>
        </p:txBody>
      </p:sp>
      <p:pic>
        <p:nvPicPr>
          <p:cNvPr id="6" name="Picture 5" descr="verification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11172"/>
            <a:ext cx="10515600" cy="298643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809744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08406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1,835,012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8756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input values swept through
sigmoid, tanh and GELU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508406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1,050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568756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softmax vectors,
up to 500 elements each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08406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68756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mismatches in the final suite
after two real bugs were found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The same computation, written two 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HOW THE SPEED WAS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20</a:t>
            </a:r>
          </a:p>
        </p:txBody>
      </p:sp>
      <p:pic>
        <p:nvPicPr>
          <p:cNvPr id="6" name="Picture 5" descr="asm_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94" y="1463040"/>
            <a:ext cx="10459107" cy="33832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901184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17550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77900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programs — a software and an accelerated
version of each of the five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517550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577900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instruction replaces the whole routine
what is left is load, store and halt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175504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bit-exact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779008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both programs return the same 32-bit
word, so the comparison is honest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How much work the processor stops doing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RESULT 2 OF 3  · 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21</a:t>
            </a:r>
          </a:p>
        </p:txBody>
      </p:sp>
      <p:pic>
        <p:nvPicPr>
          <p:cNvPr id="6" name="Picture 5" descr="cyc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9230" y="1572768"/>
            <a:ext cx="9259634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5047488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321808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5,730 → 392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925312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clock cycles, all five programs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5321808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14.6×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5925312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faster overall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321808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29×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925312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faster on softmax alone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Against requirement R1: cut at least 30 % of the cycles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RESULT 2 OF 3  ·  SPEED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22</a:t>
            </a:r>
          </a:p>
        </p:txBody>
      </p:sp>
      <p:pic>
        <p:nvPicPr>
          <p:cNvPr id="6" name="Picture 5" descr="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59559"/>
            <a:ext cx="10515600" cy="3235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864608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138928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450" b="1">
                <a:solidFill>
                  <a:srgbClr val="111418"/>
                </a:solidFill>
                <a:latin typeface="Calibri"/>
              </a:rPr>
              <a:t>Four of the five clear it, 77 % to 96 %. </a:t>
            </a:r>
            <a:r>
              <a:rPr sz="1450" b="0">
                <a:solidFill>
                  <a:srgbClr val="6B7280"/>
                </a:solidFill>
                <a:latin typeface="Calibri"/>
              </a:rPr>
              <a:t>ReLU cuts 20.8 % — its software version was already only eight instructions. </a:t>
            </a:r>
            <a:r>
              <a:rPr sz="1450" b="1">
                <a:solidFill>
                  <a:srgbClr val="111418"/>
                </a:solidFill>
                <a:latin typeface="Calibri"/>
              </a:rPr>
              <a:t>Over all five programs together: 93.2 %.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What it cost: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RESULT 3 OF 3  · 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23</a:t>
            </a:r>
          </a:p>
        </p:txBody>
      </p:sp>
      <p:pic>
        <p:nvPicPr>
          <p:cNvPr id="6" name="Picture 5" descr="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194" y="1536191"/>
            <a:ext cx="9733707" cy="3154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41248" y="4736592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010912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E05D07"/>
                </a:solidFill>
                <a:latin typeface="Calibri Light"/>
              </a:rPr>
              <a:t>+113 %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614416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more logic cells
budget was ≤ 20 %  ·  over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5010912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6.9×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5614416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better area × time
the engine still pays for itself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65008" y="5010912"/>
            <a:ext cx="33832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4400" b="0">
                <a:solidFill>
                  <a:srgbClr val="111418"/>
                </a:solidFill>
                <a:latin typeface="Calibri Light"/>
              </a:rPr>
              <a:t>15 %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5614416"/>
            <a:ext cx="33832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of the FPGA used in total
85 % of the chip still free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Teaching the assembler the new instructions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MAKING IT PROGRAMMABLE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24</a:t>
            </a:r>
          </a:p>
        </p:txBody>
      </p:sp>
      <p:pic>
        <p:nvPicPr>
          <p:cNvPr id="6" name="Picture 5" descr="resa_toolchain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730" y="1426464"/>
            <a:ext cx="10370634" cy="2834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41248" y="4443984"/>
            <a:ext cx="5074920" cy="1207008"/>
          </a:xfrm>
          <a:prstGeom prst="roundRect">
            <a:avLst>
              <a:gd name="adj" fmla="val 45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62686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BEFORE  ·  the assembler had never heard of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491947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2A6FB4"/>
                </a:solidFill>
                <a:latin typeface="Consolas"/>
              </a:rPr>
              <a:t>dc 0xE0220000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3035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a raw word, typed by hand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4443984"/>
            <a:ext cx="5074920" cy="1207008"/>
          </a:xfrm>
          <a:prstGeom prst="roundRect">
            <a:avLst>
              <a:gd name="adj" fmla="val 4500"/>
            </a:avLst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4626864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05D07"/>
                </a:solidFill>
                <a:latin typeface="Calibri"/>
              </a:rPr>
              <a:t>AFTER  ·  one line, checked as you compile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4919472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E05D07"/>
                </a:solidFill>
                <a:latin typeface="Consolas"/>
              </a:rPr>
              <a:t>sigmoid R2 R1 0x0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5303520"/>
            <a:ext cx="45720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B7280"/>
                </a:solidFill>
                <a:latin typeface="Calibri"/>
              </a:rPr>
              <a:t>the assembler emits the same 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888736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Calibri"/>
              </a:rPr>
              <a:t>All six are declared I-type on purpose — RESA's R-type encoder forces the opcode to zero and would emit the wrong word.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The demonstration: reading handwritten digits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IT ACTUALLY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25</a:t>
            </a:r>
          </a:p>
        </p:txBody>
      </p:sp>
      <p:pic>
        <p:nvPicPr>
          <p:cNvPr id="6" name="Picture 5" descr="nn_full_tan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553776"/>
            <a:ext cx="6537960" cy="421679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607808" y="1499616"/>
            <a:ext cx="3749039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7808" y="168249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6B7280"/>
                </a:solidFill>
                <a:latin typeface="Calibri"/>
              </a:rPr>
              <a:t>THE NETWORK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8" y="1975104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11418"/>
                </a:solidFill>
                <a:latin typeface="Calibri"/>
              </a:rPr>
              <a:t>256 pixels → 16 hidden neurons → 10 scores → softmax → the digit.</a:t>
            </a:r>
          </a:p>
        </p:txBody>
      </p:sp>
      <p:pic>
        <p:nvPicPr>
          <p:cNvPr id="10" name="Picture 9" descr="demo_ste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383" y="3017520"/>
            <a:ext cx="3295313" cy="18745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07808" y="5047488"/>
            <a:ext cx="374903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E05D07"/>
                </a:solidFill>
                <a:latin typeface="Calibri"/>
              </a:rPr>
              <a:t>15× fewer clock cycles</a:t>
            </a:r>
            <a:r>
              <a:rPr sz="1400" b="0">
                <a:solidFill>
                  <a:srgbClr val="111418"/>
                </a:solidFill>
                <a:latin typeface="Calibri"/>
              </a:rPr>
              <a:t>, same prediction. 95.33 % correct on the standard test set.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82696" y="356616"/>
            <a:ext cx="670255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300" b="1">
                <a:solidFill>
                  <a:srgbClr val="111418"/>
                </a:solidFill>
                <a:latin typeface="Calibri"/>
              </a:rPr>
              <a:t>What we set out to do, and where we landed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042415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50" b="1">
                <a:solidFill>
                  <a:srgbClr val="E05D07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13648" y="6355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>
                <a:solidFill>
                  <a:srgbClr val="9CA3AF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645920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88366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212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mean squared error ≤ 0.025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1883664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>
                <a:solidFill>
                  <a:srgbClr val="111418"/>
                </a:solidFill>
                <a:latin typeface="Calibri"/>
              </a:rPr>
              <a:t>worst case 4.9 × 10⁻⁴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3808" y="18470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E05D07"/>
                </a:solidFill>
                <a:latin typeface="Calibri"/>
              </a:rPr>
              <a:t>MET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852928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18211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Speed  (R1)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511296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cut at least 30 % of the clock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3182112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>
                <a:solidFill>
                  <a:srgbClr val="111418"/>
                </a:solidFill>
                <a:latin typeface="Calibri"/>
              </a:rPr>
              <a:t>93.2 % over the five programs
four of five clear it; ReLU is 20.8 %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3808" y="3145536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E05D07"/>
                </a:solidFill>
                <a:latin typeface="Calibri"/>
              </a:rPr>
              <a:t>MET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151376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>
                <a:solidFill>
                  <a:srgbClr val="111418"/>
                </a:solidFill>
                <a:latin typeface="Calibri"/>
              </a:rPr>
              <a:t>Area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09744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Calibri"/>
              </a:rPr>
              <a:t>no more than 20 % extra logic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5888" y="4480560"/>
            <a:ext cx="5943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450" b="0">
                <a:solidFill>
                  <a:srgbClr val="111418"/>
                </a:solidFill>
                <a:latin typeface="Calibri"/>
              </a:rPr>
              <a:t>+113 % logic — but area × time improves 6.9×,
and it still fits in 15 % of the FPGA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4443984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11418"/>
                </a:solidFill>
                <a:latin typeface="Calibri"/>
              </a:rPr>
              <a:t>MISSED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5449824"/>
            <a:ext cx="10515600" cy="9525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587044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6B7280"/>
                </a:solidFill>
                <a:latin typeface="Calibri"/>
              </a:rPr>
              <a:t>Five activation functions, multiplier-free except GELU, and a real classifier running on them.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a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176" y="274320"/>
            <a:ext cx="2926080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1248" y="2761488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5400" b="0">
                <a:solidFill>
                  <a:srgbClr val="111418"/>
                </a:solidFill>
                <a:latin typeface="Calibri Light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3913632"/>
            <a:ext cx="2743200" cy="25400"/>
          </a:xfrm>
          <a:prstGeom prst="rect">
            <a:avLst/>
          </a:prstGeom>
          <a:solidFill>
            <a:srgbClr val="E05D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422452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900" b="0">
                <a:solidFill>
                  <a:srgbClr val="111418"/>
                </a:solidFill>
                <a:latin typeface="Calibri"/>
              </a:rPr>
              <a:t>Questions?</a:t>
            </a:r>
          </a:p>
          <a:p>
            <a:pPr algn="l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Saed Abu Fool  ·  Saleh Khalil        Supervisor:  Oren Ganon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TAU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Fainguelernt</dc:creator>
  <cp:lastModifiedBy>Jacob Fainguelernt</cp:lastModifiedBy>
  <cp:revision>2</cp:revision>
  <dcterms:created xsi:type="dcterms:W3CDTF">2021-12-15T06:30:50Z</dcterms:created>
  <dcterms:modified xsi:type="dcterms:W3CDTF">2021-12-15T06:32:04Z</dcterms:modified>
</cp:coreProperties>
</file>